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10712" cy="6858000"/>
          </a:xfrm>
          <a:prstGeom prst="rect">
            <a:avLst/>
          </a:prstGeom>
          <a:solidFill>
            <a:srgbClr val="55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10712" y="0"/>
            <a:ext cx="36576" cy="6858000"/>
          </a:xfrm>
          <a:prstGeom prst="rect">
            <a:avLst/>
          </a:prstGeom>
          <a:solidFill>
            <a:srgbClr val="C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731520"/>
            <a:ext cx="1216152" cy="1216152"/>
          </a:xfrm>
          <a:prstGeom prst="ellipse">
            <a:avLst/>
          </a:prstGeom>
          <a:solidFill>
            <a:srgbClr val="FAF9F5"/>
          </a:solidFill>
          <a:ln w="25400">
            <a:solidFill>
              <a:srgbClr val="C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6B1526"/>
                </a:solidFill>
                <a:latin typeface="Georgia"/>
              </a:defRPr>
            </a:pPr>
            <a:r>
              <a:t>NIAT</a:t>
            </a:r>
          </a:p>
          <a:p>
            <a:pPr algn="ctr">
              <a:defRPr b="1" sz="2600">
                <a:solidFill>
                  <a:srgbClr val="C29B38"/>
                </a:solidFill>
                <a:latin typeface="Georgia"/>
              </a:defRPr>
            </a:pPr>
            <a: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148840"/>
            <a:ext cx="286207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700">
                <a:solidFill>
                  <a:srgbClr val="FFFFFF"/>
                </a:solidFill>
                <a:latin typeface="Georgia"/>
              </a:defRPr>
            </a:pPr>
            <a:r>
              <a:t>NXTWAVE of</a:t>
            </a:r>
            <a:br/>
            <a:r>
              <a:t>Innovation in</a:t>
            </a:r>
            <a:br/>
            <a:r>
              <a:t>Advance Technology</a:t>
            </a:r>
          </a:p>
          <a:p>
            <a:pPr algn="ctr">
              <a:defRPr b="1" sz="1100">
                <a:solidFill>
                  <a:srgbClr val="E0BA55"/>
                </a:solidFill>
                <a:latin typeface="Calibri"/>
              </a:defRPr>
            </a:pPr>
            <a:br/>
            <a:r>
              <a:t>J A I P U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943600"/>
            <a:ext cx="2862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E2E8F0"/>
                </a:solidFill>
                <a:latin typeface="Calibri"/>
              </a:defRPr>
            </a:pPr>
            <a:r>
              <a:t>B.Tech in Computer Science and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188720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800">
                <a:solidFill>
                  <a:srgbClr val="6B1526"/>
                </a:solidFill>
                <a:latin typeface="Georgia"/>
              </a:rPr>
              <a:t>INTERNSHIP </a:t>
            </a:r>
            <a:r>
              <a:rPr b="1" sz="3800">
                <a:solidFill>
                  <a:srgbClr val="C29B38"/>
                </a:solidFill>
                <a:latin typeface="Georgia"/>
              </a:rPr>
              <a:t>REPORT</a:t>
            </a:r>
          </a:p>
          <a:p>
            <a:pPr>
              <a:defRPr b="1" sz="2100">
                <a:solidFill>
                  <a:srgbClr val="2D2D2D"/>
                </a:solidFill>
                <a:latin typeface="Calibri"/>
              </a:defRPr>
            </a:pPr>
            <a:r>
              <a:t>Web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651760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29B38"/>
                </a:solidFill>
                <a:latin typeface="Georgia"/>
              </a:rPr>
              <a:t>TRAINING CENTRE      </a:t>
            </a:r>
            <a:r>
              <a:rPr sz="1250">
                <a:solidFill>
                  <a:srgbClr val="383838"/>
                </a:solidFill>
                <a:latin typeface="Calibri"/>
              </a:rPr>
              <a:t>Codec Technologies Pvt.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054096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29B38"/>
                </a:solidFill>
                <a:latin typeface="Georgia"/>
              </a:rPr>
              <a:t>PERIOD               </a:t>
            </a:r>
            <a:r>
              <a:rPr sz="1250">
                <a:solidFill>
                  <a:srgbClr val="383838"/>
                </a:solidFill>
                <a:latin typeface="Calibri"/>
              </a:rPr>
              <a:t>08 July 2026 – 13 August 2026 (1 Month)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456432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29B38"/>
                </a:solidFill>
                <a:latin typeface="Georgia"/>
              </a:rPr>
              <a:t>PROGRAMME            </a:t>
            </a:r>
            <a:r>
              <a:rPr sz="1250">
                <a:solidFill>
                  <a:srgbClr val="383838"/>
                </a:solidFill>
                <a:latin typeface="Calibri"/>
              </a:rPr>
              <a:t>B.Tech in Computer Science and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858768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29B38"/>
                </a:solidFill>
                <a:latin typeface="Georgia"/>
              </a:rPr>
              <a:t>INSTITUTION          </a:t>
            </a:r>
            <a:r>
              <a:rPr sz="1250">
                <a:solidFill>
                  <a:srgbClr val="383838"/>
                </a:solidFill>
                <a:latin typeface="Calibri"/>
              </a:rPr>
              <a:t>NXTWAVE of Innovation in Advance 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261104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29B38"/>
                </a:solidFill>
                <a:latin typeface="Georgia"/>
              </a:rPr>
              <a:t>PREPARED BY          </a:t>
            </a:r>
            <a:r>
              <a:rPr sz="1350" b="1">
                <a:solidFill>
                  <a:srgbClr val="6B1526"/>
                </a:solidFill>
                <a:latin typeface="Calibri"/>
              </a:rPr>
              <a:t>Damin Sahu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663440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29B38"/>
                </a:solidFill>
                <a:latin typeface="Georgia"/>
              </a:rPr>
              <a:t>ROLL NO.             </a:t>
            </a:r>
            <a:r>
              <a:rPr sz="1250">
                <a:solidFill>
                  <a:srgbClr val="383838"/>
                </a:solidFill>
                <a:latin typeface="Calibri"/>
              </a:rPr>
              <a:t>25TEC2SE291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5065776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29B38"/>
                </a:solidFill>
                <a:latin typeface="Georgia"/>
              </a:rPr>
              <a:t>MENTOR               </a:t>
            </a:r>
            <a:r>
              <a:rPr sz="1250">
                <a:solidFill>
                  <a:srgbClr val="383838"/>
                </a:solidFill>
                <a:latin typeface="Calibri"/>
              </a:rPr>
              <a:t>Dr. Anurag Shrivastava (Codec Technologies)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29B38"/>
                </a:solidFill>
                <a:latin typeface="Georgia"/>
              </a:defRPr>
            </a:pPr>
            <a:r>
              <a:t>I N T E R N S H I P   R E P O R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B1526"/>
                </a:solidFill>
                <a:latin typeface="Georgia"/>
              </a:defRPr>
            </a:pPr>
            <a: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263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737373"/>
                </a:solidFill>
                <a:latin typeface="Calibri"/>
              </a:defRPr>
            </a:pPr>
            <a:r>
              <a:t>NXTWAVE of Innovation in Advance Technology | B.Tech in Computer Science and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73737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80160"/>
            <a:ext cx="110459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6B1526"/>
                </a:solidFill>
                <a:latin typeface="Georgia"/>
              </a:rPr>
              <a:t>Company         </a:t>
            </a:r>
            <a:r>
              <a:rPr sz="1250">
                <a:solidFill>
                  <a:srgbClr val="383838"/>
                </a:solidFill>
                <a:latin typeface="Calibri"/>
              </a:rPr>
              <a:t>Codec Technologies Pvt. Ltd., Chandivali IT Hub, Mumbai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2066544"/>
            <a:ext cx="110459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76272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6B1526"/>
                </a:solidFill>
                <a:latin typeface="Georgia"/>
              </a:rPr>
              <a:t>Role            </a:t>
            </a:r>
            <a:r>
              <a:rPr sz="1250">
                <a:solidFill>
                  <a:srgbClr val="383838"/>
                </a:solidFill>
                <a:latin typeface="Calibri"/>
              </a:rPr>
              <a:t>Web Developer Intern, July 2026 cohort (AICTE &amp; ICAC approved)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2852928"/>
            <a:ext cx="110459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62656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6B1526"/>
                </a:solidFill>
                <a:latin typeface="Georgia"/>
              </a:rPr>
              <a:t>Period          </a:t>
            </a:r>
            <a:r>
              <a:rPr sz="1250">
                <a:solidFill>
                  <a:srgbClr val="383838"/>
                </a:solidFill>
                <a:latin typeface="Calibri"/>
              </a:rPr>
              <a:t>08 July 2026 – 13 August 2026, Pan India, Hybrid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639312"/>
            <a:ext cx="110459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6B1526"/>
                </a:solidFill>
                <a:latin typeface="Georgia"/>
              </a:rPr>
              <a:t>Duration        </a:t>
            </a:r>
            <a:r>
              <a:rPr sz="1250">
                <a:solidFill>
                  <a:srgbClr val="383838"/>
                </a:solidFill>
                <a:latin typeface="Calibri"/>
              </a:rPr>
              <a:t>One-month industrial internship program, as stated in official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4425696"/>
            <a:ext cx="110459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35424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6B1526"/>
                </a:solidFill>
                <a:latin typeface="Georgia"/>
              </a:rPr>
              <a:t>Training        </a:t>
            </a:r>
            <a:r>
              <a:rPr sz="1250">
                <a:solidFill>
                  <a:srgbClr val="383838"/>
                </a:solidFill>
                <a:latin typeface="Calibri"/>
              </a:rPr>
              <a:t>AICTE &amp; ICAC-approved industrial training and internship framework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5212080"/>
            <a:ext cx="110459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21808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6B1526"/>
                </a:solidFill>
                <a:latin typeface="Georgia"/>
              </a:rPr>
              <a:t>Objectives      </a:t>
            </a:r>
            <a:r>
              <a:rPr sz="1250">
                <a:solidFill>
                  <a:srgbClr val="383838"/>
                </a:solidFill>
                <a:latin typeface="Calibri"/>
              </a:rPr>
              <a:t>Practical web development, applying computer science concepts, and improving technical skills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29B38"/>
                </a:solidFill>
                <a:latin typeface="Georgia"/>
              </a:defRPr>
            </a:pPr>
            <a:r>
              <a:t>I N T E R N S H I P   R E P O R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B1526"/>
                </a:solidFill>
                <a:latin typeface="Georgia"/>
              </a:defRPr>
            </a:pPr>
            <a:r>
              <a:t>About Codec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263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737373"/>
                </a:solidFill>
                <a:latin typeface="Calibri"/>
              </a:defRPr>
            </a:pPr>
            <a:r>
              <a:t>NXTWAVE of Innovation in Advance Technology | B.Tech in Computer Science and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73737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80160"/>
            <a:ext cx="110459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6B1526"/>
                </a:solidFill>
                <a:latin typeface="Georgia"/>
              </a:rPr>
              <a:t>Organisation    </a:t>
            </a:r>
            <a:r>
              <a:rPr sz="1250">
                <a:solidFill>
                  <a:srgbClr val="383838"/>
                </a:solidFill>
                <a:latin typeface="Calibri"/>
              </a:rPr>
              <a:t>Codec Technologies Pvt. Ltd., trading online at www.codectechnologies.in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2066544"/>
            <a:ext cx="110459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76272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6B1526"/>
                </a:solidFill>
                <a:latin typeface="Georgia"/>
              </a:rPr>
              <a:t>Project Head    </a:t>
            </a:r>
            <a:r>
              <a:rPr sz="1250">
                <a:solidFill>
                  <a:srgbClr val="383838"/>
                </a:solidFill>
                <a:latin typeface="Calibri"/>
              </a:rPr>
              <a:t>Dr. Anurag Shrivastava, Project Head &amp; Program 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2852928"/>
            <a:ext cx="110459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62656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6B1526"/>
                </a:solidFill>
                <a:latin typeface="Georgia"/>
              </a:rPr>
              <a:t>Location        </a:t>
            </a:r>
            <a:r>
              <a:rPr sz="1250">
                <a:solidFill>
                  <a:srgbClr val="383838"/>
                </a:solidFill>
                <a:latin typeface="Calibri"/>
              </a:rPr>
              <a:t>Chandivali IT Hub, Mumbai, India (Global presence across 27+ countries)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639312"/>
            <a:ext cx="110459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6B1526"/>
                </a:solidFill>
                <a:latin typeface="Georgia"/>
              </a:rPr>
              <a:t>Focus           </a:t>
            </a:r>
            <a:r>
              <a:rPr sz="1250">
                <a:solidFill>
                  <a:srgbClr val="383838"/>
                </a:solidFill>
                <a:latin typeface="Calibri"/>
              </a:rPr>
              <a:t>IT &amp; business consultancy, AICTE/ICAC approved industrial internship programs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4425696"/>
            <a:ext cx="110459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35424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6B1526"/>
                </a:solidFill>
                <a:latin typeface="Georgia"/>
              </a:rPr>
              <a:t>Credentials     </a:t>
            </a:r>
            <a:r>
              <a:rPr sz="1250">
                <a:solidFill>
                  <a:srgbClr val="383838"/>
                </a:solidFill>
                <a:latin typeface="Calibri"/>
              </a:rPr>
              <a:t>ISO 9001 certified organisation and Google for Education Partner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5212080"/>
            <a:ext cx="110459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21808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6B1526"/>
                </a:solidFill>
                <a:latin typeface="Georgia"/>
              </a:rPr>
              <a:t>Supervision     </a:t>
            </a:r>
            <a:r>
              <a:rPr sz="1250">
                <a:solidFill>
                  <a:srgbClr val="383838"/>
                </a:solidFill>
                <a:latin typeface="Calibri"/>
              </a:rPr>
              <a:t>Assigned project work and training tasks through the organisation's platform and email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29B38"/>
                </a:solidFill>
                <a:latin typeface="Georgia"/>
              </a:defRPr>
            </a:pPr>
            <a:r>
              <a:t>I N T E R N S H I P   R E P O R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B1526"/>
                </a:solidFill>
                <a:latin typeface="Georgia"/>
              </a:defRPr>
            </a:pPr>
            <a:r>
              <a:t>Nature of Work Assigned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263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737373"/>
                </a:solidFill>
                <a:latin typeface="Calibri"/>
              </a:defRPr>
            </a:pPr>
            <a:r>
              <a:t>NXTWAVE of Innovation in Advance Technology | B.Tech in Computer Science and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73737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371600"/>
            <a:ext cx="53766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7532" y="1627632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4732" y="1572768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6B1526"/>
                </a:solidFill>
                <a:latin typeface="Georgia"/>
              </a:defRPr>
            </a:pPr>
            <a:r>
              <a:t>Planning &amp;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" y="21488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3838"/>
                </a:solidFill>
                <a:latin typeface="Calibri"/>
              </a:defRPr>
            </a:pPr>
            <a:r>
              <a:t>Defining the portfolio's purpose, content hierarchy, page sections, and navigation flow before coding. Establishing modular component organization and typed data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71600"/>
            <a:ext cx="53766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1627632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572768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6B1526"/>
                </a:solidFill>
                <a:latin typeface="Georgia"/>
              </a:defRPr>
            </a:pPr>
            <a:r>
              <a:t>Frontend Design &amp; Layout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3838"/>
                </a:solidFill>
                <a:latin typeface="Calibri"/>
              </a:defRPr>
            </a:pPr>
            <a:r>
              <a:t>Developing responsive UI components using semantic HTML5 and vanilla CSS design tokens, custom themes, dark mode palettes, and subtle micro-interactions.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3749039"/>
            <a:ext cx="53766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7532" y="4005071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4732" y="3950207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6B1526"/>
                </a:solidFill>
                <a:latin typeface="Georgia"/>
              </a:defRPr>
            </a:pPr>
            <a:r>
              <a:t>Component Interactivity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" y="4526279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3838"/>
                </a:solidFill>
                <a:latin typeface="Calibri"/>
              </a:defRPr>
            </a:pPr>
            <a:r>
              <a:t>Implementing client-side interactivity using modern JavaScript and TypeScript. Managing reactive theme switches, modal dialogs, and interactive UI states.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749039"/>
            <a:ext cx="53766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4005071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950207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6B1526"/>
                </a:solidFill>
                <a:latin typeface="Georgia"/>
              </a:defRPr>
            </a:pPr>
            <a:r>
              <a:t>Version Control &amp; Refinement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526279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3838"/>
                </a:solidFill>
                <a:latin typeface="Calibri"/>
              </a:defRPr>
            </a:pPr>
            <a:r>
              <a:t>Maintaining clean version control with Git and GitHub. Conducting iterative code refinement, viewport cross-browser validation, and deploying production builds to Vercel.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29B38"/>
                </a:solidFill>
                <a:latin typeface="Georgia"/>
              </a:defRPr>
            </a:pPr>
            <a:r>
              <a:t>I N T E R N S H I P   R E P O R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B1526"/>
                </a:solidFill>
                <a:latin typeface="Georgia"/>
              </a:defRPr>
            </a:pPr>
            <a:r>
              <a:t>Internship Activity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263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737373"/>
                </a:solidFill>
                <a:latin typeface="Calibri"/>
              </a:defRPr>
            </a:pPr>
            <a:r>
              <a:t>NXTWAVE of Innovation in Advance Technology | B.Tech in Computer Science and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73737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371600"/>
            <a:ext cx="24871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" y="1554480"/>
            <a:ext cx="248716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600">
                <a:solidFill>
                  <a:srgbClr val="6B1526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" y="2468880"/>
            <a:ext cx="23042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50">
                <a:solidFill>
                  <a:srgbClr val="2D2D2D"/>
                </a:solidFill>
                <a:latin typeface="Calibri"/>
              </a:defRPr>
            </a:pPr>
            <a:r>
              <a:t>Featured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" y="2880360"/>
            <a:ext cx="23042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737373"/>
                </a:solidFill>
                <a:latin typeface="Calibri"/>
              </a:defRPr>
            </a:pPr>
            <a:r>
              <a:t>Personal Portfolio Website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1371600"/>
            <a:ext cx="24871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554480"/>
            <a:ext cx="248716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600">
                <a:solidFill>
                  <a:srgbClr val="6B1526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468880"/>
            <a:ext cx="23042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50">
                <a:solidFill>
                  <a:srgbClr val="2D2D2D"/>
                </a:solidFill>
                <a:latin typeface="Calibri"/>
              </a:defRPr>
            </a:pPr>
            <a:r>
              <a:t>Core Technologies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880360"/>
            <a:ext cx="23042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737373"/>
                </a:solidFill>
                <a:latin typeface="Calibri"/>
              </a:defRPr>
            </a:pPr>
            <a:r>
              <a:t>HTML, CSS &amp; JavaScript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1371600"/>
            <a:ext cx="24871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554480"/>
            <a:ext cx="248716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600">
                <a:solidFill>
                  <a:srgbClr val="6B1526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468880"/>
            <a:ext cx="23042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50">
                <a:solidFill>
                  <a:srgbClr val="2D2D2D"/>
                </a:solidFill>
                <a:latin typeface="Calibri"/>
              </a:defRPr>
            </a:pPr>
            <a:r>
              <a:t>GitHub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880360"/>
            <a:ext cx="23042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737373"/>
                </a:solidFill>
                <a:latin typeface="Calibri"/>
              </a:defRPr>
            </a:pPr>
            <a:r>
              <a:t>Verified Source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5712" y="1371600"/>
            <a:ext cx="24871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2" y="1554480"/>
            <a:ext cx="248716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600">
                <a:solidFill>
                  <a:srgbClr val="6B1526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468880"/>
            <a:ext cx="23042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50">
                <a:solidFill>
                  <a:srgbClr val="2D2D2D"/>
                </a:solidFill>
                <a:latin typeface="Calibri"/>
              </a:defRPr>
            </a:pPr>
            <a:r>
              <a:t>Internship 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2880360"/>
            <a:ext cx="23042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737373"/>
                </a:solidFill>
                <a:latin typeface="Calibri"/>
              </a:defRPr>
            </a:pPr>
            <a:r>
              <a:t>Web Developer Intern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" y="3977639"/>
            <a:ext cx="1104595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206240"/>
            <a:ext cx="10424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83838"/>
                </a:solidFill>
                <a:latin typeface="Calibri"/>
              </a:defRPr>
            </a:pPr>
            <a:r>
              <a:t>Completed: "AICTE &amp; ICAC Approved Industrial Training &amp; Program Deliverables".</a:t>
            </a:r>
          </a:p>
          <a:p>
            <a:pPr>
              <a:defRPr b="1" sz="1500">
                <a:solidFill>
                  <a:srgbClr val="6B1526"/>
                </a:solidFill>
                <a:latin typeface="Georgia"/>
              </a:defRPr>
            </a:pPr>
            <a:r>
              <a:t>Focus: Frontend development, page structure, styling, code organization, and version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29B38"/>
                </a:solidFill>
                <a:latin typeface="Georgia"/>
              </a:defRPr>
            </a:pPr>
            <a:r>
              <a:t>I N T E R N S H I P   R E P O R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B1526"/>
                </a:solidFill>
                <a:latin typeface="Georgia"/>
              </a:defRPr>
            </a:pPr>
            <a:r>
              <a:t>Major Project Undertaken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263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737373"/>
                </a:solidFill>
                <a:latin typeface="Calibri"/>
              </a:defRPr>
            </a:pPr>
            <a:r>
              <a:t>NXTWAVE of Innovation in Advance Technology | B.Tech in Computer Science and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73737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80160"/>
            <a:ext cx="1104595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8988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2D2D2D"/>
                </a:solidFill>
                <a:latin typeface="Calibri"/>
              </a:rPr>
              <a:t>Project Purpose: </a:t>
            </a:r>
            <a:r>
              <a:rPr sz="1200">
                <a:solidFill>
                  <a:srgbClr val="383838"/>
                </a:solidFill>
                <a:latin typeface="Calibri"/>
              </a:rPr>
              <a:t>A responsive personal portfolio website engineered to introduce the developer and present verified academic credentials, projects, and achievements.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212848"/>
            <a:ext cx="1104595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2414016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322576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2D2D2D"/>
                </a:solidFill>
                <a:latin typeface="Calibri"/>
              </a:rPr>
              <a:t>Structure &amp; Content: </a:t>
            </a:r>
            <a:r>
              <a:rPr sz="1200">
                <a:solidFill>
                  <a:srgbClr val="383838"/>
                </a:solidFill>
                <a:latin typeface="Calibri"/>
              </a:rPr>
              <a:t>Features a hero introduction, education timeline, categorized technical skills, verified projects showcase, and an integrated resume hub.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145536"/>
            <a:ext cx="1104595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3346704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552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2D2D2D"/>
                </a:solidFill>
                <a:latin typeface="Calibri"/>
              </a:rPr>
              <a:t>Frontend Technologies: </a:t>
            </a:r>
            <a:r>
              <a:rPr sz="1200">
                <a:solidFill>
                  <a:srgbClr val="383838"/>
                </a:solidFill>
                <a:latin typeface="Calibri"/>
              </a:rPr>
              <a:t>Developed with semantic HTML5, modular CSS styling, JavaScript/TypeScript, React component architecture, and the Vite build tool.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078224"/>
            <a:ext cx="1104595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279392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2D2D2D"/>
                </a:solidFill>
                <a:latin typeface="Calibri"/>
              </a:rPr>
              <a:t>Design &amp; Usability: </a:t>
            </a:r>
            <a:r>
              <a:rPr sz="1200">
                <a:solidFill>
                  <a:srgbClr val="383838"/>
                </a:solidFill>
                <a:latin typeface="Calibri"/>
              </a:rPr>
              <a:t>Built with persistent light/dark themes, accent color switches, fluid responsive layouts, and accessible navigation.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5010912"/>
            <a:ext cx="1104595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5212080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120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2D2D2D"/>
                </a:solidFill>
                <a:latin typeface="Calibri"/>
              </a:rPr>
              <a:t>GitHub Repository: </a:t>
            </a:r>
            <a:r>
              <a:rPr sz="1200">
                <a:solidFill>
                  <a:srgbClr val="383838"/>
                </a:solidFill>
                <a:latin typeface="Calibri"/>
              </a:rPr>
              <a:t>Source code publicly maintained at https://github.com/daminsahu697-debug/portfolio (Production URL: https://damin-portfolio.vercel.app).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29B38"/>
                </a:solidFill>
                <a:latin typeface="Georgia"/>
              </a:defRPr>
            </a:pPr>
            <a:r>
              <a:t>I N T E R N S H I P   R E P O R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B1526"/>
                </a:solidFill>
                <a:latin typeface="Georgia"/>
              </a:defRPr>
            </a:pPr>
            <a:r>
              <a:t>Skills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263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737373"/>
                </a:solidFill>
                <a:latin typeface="Calibri"/>
              </a:defRPr>
            </a:pPr>
            <a:r>
              <a:t>NXTWAVE of Innovation in Advance Technology | B.Tech in Computer Science and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737373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371600"/>
            <a:ext cx="343814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0100" y="1600200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1536192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6B1526"/>
                </a:solidFill>
                <a:latin typeface="Georgia"/>
              </a:defRPr>
            </a:pPr>
            <a:r>
              <a:t>Technical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148840"/>
            <a:ext cx="298094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3838"/>
                </a:solidFill>
                <a:latin typeface="Calibri"/>
              </a:defRPr>
            </a:pPr>
            <a:r>
              <a:t>HTML5, CSS3, JavaScript (ES6+), TypeScript, React modular components, Vite build pipeline, Git, GitHub repository workflows, and Vercel cloud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71600"/>
            <a:ext cx="343814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9432" y="1600200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2" y="1536192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6B1526"/>
                </a:solidFill>
                <a:latin typeface="Georgia"/>
              </a:defRPr>
            </a:pPr>
            <a:r>
              <a:t>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148840"/>
            <a:ext cx="298094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3838"/>
                </a:solidFill>
                <a:latin typeface="Calibri"/>
              </a:defRPr>
            </a:pPr>
            <a:r>
              <a:t>Clear technical explanation, structured project documentation, remote coordination with Dr. Anurag Shrivastava, and live interface demonstration.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371600"/>
            <a:ext cx="343814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03336" y="1600200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0536" y="1536192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6B1526"/>
                </a:solidFill>
                <a:latin typeface="Georgia"/>
              </a:defRPr>
            </a:pPr>
            <a:r>
              <a:t>Professional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48840"/>
            <a:ext cx="298094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3838"/>
                </a:solidFill>
                <a:latin typeface="Calibri"/>
              </a:defRPr>
            </a:pPr>
            <a:r>
              <a:t>Punctuality, meeting deliverables within an intensive 1-month schedule, systematic code hygiene, debugging layout issues, and time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29B38"/>
                </a:solidFill>
                <a:latin typeface="Georgia"/>
              </a:defRPr>
            </a:pPr>
            <a:r>
              <a:t>I N T E R N S H I P   R E P O R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B1526"/>
                </a:solidFill>
                <a:latin typeface="Georgia"/>
              </a:defRPr>
            </a:pPr>
            <a:r>
              <a:t>Challenges Faced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263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737373"/>
                </a:solidFill>
                <a:latin typeface="Calibri"/>
              </a:defRPr>
            </a:pPr>
            <a:r>
              <a:t>NXTWAVE of Innovation in Advance Technology | B.Tech in Computer Science and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737373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371600"/>
            <a:ext cx="343814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0100" y="1600200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1536192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50">
                <a:solidFill>
                  <a:srgbClr val="6B1526"/>
                </a:solidFill>
                <a:latin typeface="Georgia"/>
              </a:defRPr>
            </a:pPr>
            <a:r>
              <a:t>Layout &amp; Consistency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148840"/>
            <a:ext cx="298094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3838"/>
                </a:solidFill>
                <a:latin typeface="Calibri"/>
              </a:defRPr>
            </a:pPr>
            <a:r>
              <a:t>Maintaining a clean and cohesive visual hierarchy across diverse screen viewports. Solved through modular CSS tokens, flexible containers, and responsive breakpoint testing.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71600"/>
            <a:ext cx="343814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9432" y="1600200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2" y="1536192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50">
                <a:solidFill>
                  <a:srgbClr val="6B1526"/>
                </a:solidFill>
                <a:latin typeface="Georgia"/>
              </a:defRPr>
            </a:pPr>
            <a:r>
              <a:t>Debugging &amp; Refinement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148840"/>
            <a:ext cx="298094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3838"/>
                </a:solidFill>
                <a:latin typeface="Calibri"/>
              </a:defRPr>
            </a:pPr>
            <a:r>
              <a:t>Identifying and correcting UI edge cases such as modal overlay scrolling and theme persistence across browser reloads through rigorous console inspection.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371600"/>
            <a:ext cx="343814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03336" y="1600200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0536" y="1536192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50">
                <a:solidFill>
                  <a:srgbClr val="6B1526"/>
                </a:solidFill>
                <a:latin typeface="Georgia"/>
              </a:defRPr>
            </a:pPr>
            <a:r>
              <a:t>Time &amp; Task Mgmt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48840"/>
            <a:ext cx="298094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3838"/>
                </a:solidFill>
                <a:latin typeface="Calibri"/>
              </a:defRPr>
            </a:pPr>
            <a:r>
              <a:t>Organizing project milestones within the one-month hybrid internship window while balancing academic coursework through structured development sprints.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29B38"/>
                </a:solidFill>
                <a:latin typeface="Georgia"/>
              </a:defRPr>
            </a:pPr>
            <a:r>
              <a:t>I N T E R N S H I P   R E P O R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B1526"/>
                </a:solidFill>
                <a:latin typeface="Georgia"/>
              </a:defRPr>
            </a:pPr>
            <a:r>
              <a:t>Outcomes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263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737373"/>
                </a:solidFill>
                <a:latin typeface="Calibri"/>
              </a:defRPr>
            </a:pPr>
            <a:r>
              <a:t>NXTWAVE of Innovation in Advance Technology | B.Tech in Computer Science and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737373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371600"/>
            <a:ext cx="537667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600200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36192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6B1526"/>
                </a:solidFill>
                <a:latin typeface="Georgia"/>
              </a:defRPr>
            </a:pPr>
            <a:r>
              <a:t>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383838"/>
                </a:solidFill>
                <a:latin typeface="Calibri"/>
              </a:defRPr>
            </a:pPr>
            <a:r>
              <a:t>•  Understood the end-to-end web engineering lifecycle from structural design to production deployment.</a:t>
            </a:r>
          </a:p>
          <a:p>
            <a:pPr>
              <a:spcAft>
                <a:spcPts val="1400"/>
              </a:spcAft>
              <a:defRPr sz="1200">
                <a:solidFill>
                  <a:srgbClr val="383838"/>
                </a:solidFill>
                <a:latin typeface="Calibri"/>
              </a:defRPr>
            </a:pPr>
            <a:r>
              <a:t>•  Established practical connections between computer science principles and client-side frontend implementation.</a:t>
            </a:r>
          </a:p>
          <a:p>
            <a:pPr>
              <a:spcAft>
                <a:spcPts val="1400"/>
              </a:spcAft>
              <a:defRPr sz="1200">
                <a:solidFill>
                  <a:srgbClr val="383838"/>
                </a:solidFill>
                <a:latin typeface="Calibri"/>
              </a:defRPr>
            </a:pPr>
            <a:r>
              <a:t>•  Mastered industry-standard Git version control workflows, branch tracking, and clean repository hygiene.</a:t>
            </a:r>
          </a:p>
          <a:p>
            <a:pPr>
              <a:spcAft>
                <a:spcPts val="1400"/>
              </a:spcAft>
              <a:defRPr sz="1200">
                <a:solidFill>
                  <a:srgbClr val="383838"/>
                </a:solidFill>
                <a:latin typeface="Calibri"/>
              </a:defRPr>
            </a:pPr>
            <a:r>
              <a:t>•  Developed heightened awareness of UI/UX accessibility, visual hierarchy, and cross-device consistency.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71600"/>
            <a:ext cx="537667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1600200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536192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6B1526"/>
                </a:solidFill>
                <a:latin typeface="Georgia"/>
              </a:defRPr>
            </a:pPr>
            <a:r>
              <a:t>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383838"/>
                </a:solidFill>
                <a:latin typeface="Calibri"/>
              </a:defRPr>
            </a:pPr>
            <a:r>
              <a:t>•  Provide structured onboarding documentation and coding style guides for incoming web interns.</a:t>
            </a:r>
          </a:p>
          <a:p>
            <a:pPr>
              <a:spcAft>
                <a:spcPts val="1400"/>
              </a:spcAft>
              <a:defRPr sz="1200">
                <a:solidFill>
                  <a:srgbClr val="383838"/>
                </a:solidFill>
                <a:latin typeface="Calibri"/>
              </a:defRPr>
            </a:pPr>
            <a:r>
              <a:t>•  Introduce regular live peer code review sessions and architectural mentoring check-ins.</a:t>
            </a:r>
          </a:p>
          <a:p>
            <a:pPr>
              <a:spcAft>
                <a:spcPts val="1400"/>
              </a:spcAft>
              <a:defRPr sz="1200">
                <a:solidFill>
                  <a:srgbClr val="383838"/>
                </a:solidFill>
                <a:latin typeface="Calibri"/>
              </a:defRPr>
            </a:pPr>
            <a:r>
              <a:t>•  Offer expanded practical exercises in automated frontend testing and continuous integration (CI/CD).</a:t>
            </a:r>
          </a:p>
          <a:p>
            <a:pPr>
              <a:spcAft>
                <a:spcPts val="1400"/>
              </a:spcAft>
              <a:defRPr sz="1200">
                <a:solidFill>
                  <a:srgbClr val="383838"/>
                </a:solidFill>
                <a:latin typeface="Calibri"/>
              </a:defRPr>
            </a:pPr>
            <a:r>
              <a:t>•  Provide broader exposure to full-stack backend integrations and emerging web standards.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29B38"/>
                </a:solidFill>
                <a:latin typeface="Georgia"/>
              </a:defRPr>
            </a:pPr>
            <a:r>
              <a:t>I N T E R N S H I P   R E P O R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B1526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263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737373"/>
                </a:solidFill>
                <a:latin typeface="Calibri"/>
              </a:defRPr>
            </a:pPr>
            <a:r>
              <a:t>NXTWAVE of Innovation in Advance Technology | B.Tech in Computer Science and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737373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80160"/>
            <a:ext cx="110459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426464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898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3838"/>
                </a:solidFill>
                <a:latin typeface="Calibri"/>
              </a:defRPr>
            </a:pPr>
            <a:r>
              <a:t>The internship successfully translated academic computer science foundations into practical frontend web engineering practices.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066544"/>
            <a:ext cx="110459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2212848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762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3838"/>
                </a:solidFill>
                <a:latin typeface="Calibri"/>
              </a:defRPr>
            </a:pPr>
            <a:r>
              <a:t>The Personal Portfolio Website served as the primary project for demonstrating responsive design, modular architecture, and professional presentation.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2852928"/>
            <a:ext cx="110459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2999232"/>
            <a:ext cx="347472" cy="347472"/>
          </a:xfrm>
          <a:prstGeom prst="ellipse">
            <a:avLst/>
          </a:prstGeom>
          <a:solidFill>
            <a:srgbClr val="6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626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3838"/>
                </a:solidFill>
                <a:latin typeface="Calibri"/>
              </a:defRPr>
            </a:pPr>
            <a:r>
              <a:t>Successfully completed the AICTE &amp; ICAC approved industrial training program on 13 August 2026 under the mentorship of Codec Technologies Pvt. Ltd.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3931920"/>
            <a:ext cx="11045952" cy="1965960"/>
          </a:xfrm>
          <a:prstGeom prst="roundRect">
            <a:avLst/>
          </a:prstGeom>
          <a:solidFill>
            <a:srgbClr val="FFFBF9"/>
          </a:solidFill>
          <a:ln w="12700">
            <a:solidFill>
              <a:srgbClr val="D9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160520"/>
            <a:ext cx="94457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6B1526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98348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83838"/>
                </a:solidFill>
                <a:latin typeface="Calibri"/>
              </a:defRPr>
            </a:pPr>
            <a:r>
              <a:t>Sincere thanks to Dr. Anurag Shrivastava (Codec Technologies), Ms. Aparajita Negi (HOD, NIAT), and Department of Computer Science &amp; Engineering, NXTWAVE of Innovation in Advance Technology.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